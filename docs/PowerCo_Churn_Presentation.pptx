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F"/>
                </a:solidFill>
              </a:rPr>
              <a:t>BCG 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Data Science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4630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PowerCo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1488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B89F"/>
                </a:solidFill>
              </a:rPr>
              <a:t>Customer Churn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7889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611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Can we predict which SME customers will leave —
and understand what drives them away?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6126480"/>
            <a:ext cx="12024360" cy="36576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BCG X  ·  Forage Data Science Simulation  ·  PowerCo SME Division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457200"/>
            <a:ext cx="2743200" cy="2743200"/>
          </a:xfrm>
          <a:prstGeom prst="rect">
            <a:avLst/>
          </a:prstGeom>
          <a:solidFill>
            <a:srgbClr val="008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92640" y="1188720"/>
            <a:ext cx="2286000" cy="228600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32720" y="1828800"/>
            <a:ext cx="1828800" cy="4572000"/>
          </a:xfrm>
          <a:prstGeom prst="rect">
            <a:avLst/>
          </a:prstGeom>
          <a:solidFill>
            <a:srgbClr val="009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3474720"/>
            <a:ext cx="1371600" cy="3200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BCG X  ·  PowerCo Churn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88720"/>
            <a:ext cx="27889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2788920" cy="50292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1615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161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Business
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444444"/>
                </a:solidFill>
              </a:rPr>
              <a:t>● Frame the hypothesis:
price sensitivity as churn driver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44444"/>
                </a:solidFill>
              </a:rPr>
              <a:t>● Draft client email requesting
data + outlining our approach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44444"/>
                </a:solidFill>
              </a:rPr>
              <a:t>● Define data requirements:
customer, churn, price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72968" y="1188720"/>
            <a:ext cx="27889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72968" y="1188720"/>
            <a:ext cx="2788920" cy="50292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121615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12161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Exploratory
Data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182880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444444"/>
                </a:solidFill>
              </a:rPr>
              <a:t>● ~15k SME customers analysed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44444"/>
                </a:solidFill>
              </a:rPr>
              <a:t>● 10% churn rate identified
(class imbalance)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44444"/>
                </a:solidFill>
              </a:rPr>
              <a:t>● Consumption &amp; margin
variables found to be skewed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44444"/>
                </a:solidFill>
              </a:rPr>
              <a:t>● Price diff between groups
present but small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17336" y="1188720"/>
            <a:ext cx="27889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17336" y="1188720"/>
            <a:ext cx="2788920" cy="50292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8776" y="121615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12161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Feature
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182880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444444"/>
                </a:solidFill>
              </a:rPr>
              <a:t>● 14 new price diff features
created (dec-jan, mean, max)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44444"/>
                </a:solidFill>
              </a:rPr>
              <a:t>● Tenure, date → months
conversion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44444"/>
                </a:solidFill>
              </a:rPr>
              <a:t>● Log transform on 10 skewed
columns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44444"/>
                </a:solidFill>
              </a:rPr>
              <a:t>● One-hot encoding of
categorical variables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61704" y="1188720"/>
            <a:ext cx="27889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61704" y="1188720"/>
            <a:ext cx="2788920" cy="50292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53144" y="121615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6064" y="12161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Modelling &amp;
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182880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444444"/>
                </a:solidFill>
              </a:rPr>
              <a:t>● Random Forest (1000 trees)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44444"/>
                </a:solidFill>
              </a:rPr>
              <a:t>● class_weight='balanced'
to handle imbalance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44444"/>
                </a:solidFill>
              </a:rPr>
              <a:t>● 5-fold cross-validation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444444"/>
                </a:solidFill>
              </a:rPr>
              <a:t>● Feature importance
analysis to test hypothesis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
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56032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89F"/>
                </a:solidFill>
              </a:rPr>
              <a:t>Is customer churn
primarily driven by
price sensitivity?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20624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</a:rPr>
              <a:t>Our job is to validate or
disprove this using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0"/>
            <a:ext cx="80741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286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C1C"/>
                </a:solidFill>
              </a:rPr>
              <a:t>Translating price sensitivity into measurable variables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868680"/>
            <a:ext cx="35204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868680"/>
            <a:ext cx="64008" cy="123444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F"/>
                </a:solidFill>
              </a:rPr>
              <a:t>Price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2801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Price per kWh for electricity &amp; gas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868680"/>
            <a:ext cx="35204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868680"/>
            <a:ext cx="64008" cy="123444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F"/>
                </a:solidFill>
              </a:rPr>
              <a:t>Bill Burden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2801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Monthly bill amount per customer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2286000"/>
            <a:ext cx="35204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2286000"/>
            <a:ext cx="64008" cy="123444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F"/>
                </a:solidFill>
              </a:rPr>
              <a:t>Price Volatility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6974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Month-on-month price changes over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2286000"/>
            <a:ext cx="35204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2286000"/>
            <a:ext cx="64008" cy="123444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F"/>
                </a:solidFill>
              </a:rPr>
              <a:t>Pricing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26974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Discounted vs non-discounted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8862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C1C1C"/>
                </a:solidFill>
              </a:rPr>
              <a:t>5-Step Investigation Framework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4343400"/>
            <a:ext cx="347472" cy="32004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434340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4352544"/>
            <a:ext cx="6858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Define &amp; quantify price sensitivity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791456"/>
            <a:ext cx="347472" cy="32004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479145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4800600"/>
            <a:ext cx="6858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Feature engineering &amp; data prep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5239512"/>
            <a:ext cx="347472" cy="32004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5239512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5248656"/>
            <a:ext cx="6858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Exploratory data analysis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5687568"/>
            <a:ext cx="347472" cy="32004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5687568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3168" y="5696712"/>
            <a:ext cx="6858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Binary classification model (Random Forest)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6135624"/>
            <a:ext cx="347472" cy="32004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6135624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3168" y="6144768"/>
            <a:ext cx="6858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Insight generation &amp; business recommendation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Exploratory Data Analysis —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89F"/>
                </a:solidFill>
              </a:rPr>
              <a:t>Task 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27432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89F"/>
                </a:solidFill>
              </a:rPr>
              <a:t>~15,000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SME Customers
Analysed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143000"/>
            <a:ext cx="27432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188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89F"/>
                </a:solidFill>
              </a:rPr>
              <a:t>9.7%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691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Overall
Churn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43000"/>
            <a:ext cx="27432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188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89F"/>
                </a:solidFill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691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Price Features
Engineered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143000"/>
            <a:ext cx="27432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188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89F"/>
                </a:solidFill>
              </a:rPr>
              <a:t>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691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Decision Trees
in Random Forest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377440"/>
            <a:ext cx="5742432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2377440"/>
            <a:ext cx="54864" cy="201168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2450592"/>
            <a:ext cx="5559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9F"/>
                </a:solidFill>
              </a:rPr>
              <a:t>Class Imbalance Detected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" y="2788920"/>
            <a:ext cx="55138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44444"/>
                </a:solidFill>
              </a:rPr>
              <a:t>● ~90% of customers did NOT churn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44444"/>
                </a:solidFill>
              </a:rPr>
              <a:t>● A naïve model predicts 'no churn' always and still gets 90% accuracy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44444"/>
                </a:solidFill>
              </a:rPr>
              <a:t>● Solution: class_weight='balanced' in Random Forest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5352" y="2377440"/>
            <a:ext cx="5742432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5352" y="2377440"/>
            <a:ext cx="54864" cy="201168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450592"/>
            <a:ext cx="5559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9F"/>
                </a:solidFill>
              </a:rPr>
              <a:t>Consumption Variables Are Skewed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788920"/>
            <a:ext cx="55138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44444"/>
                </a:solidFill>
              </a:rPr>
              <a:t>● cons_12m, cons_last_month and forecast variables are highly right-skewed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44444"/>
                </a:solidFill>
              </a:rPr>
              <a:t>● Applied log10(x+1) transformation to normalise distributions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44444"/>
                </a:solidFill>
              </a:rPr>
              <a:t>● Reduced standard deviation significantly after transformation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4526280"/>
            <a:ext cx="5742432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" y="4526280"/>
            <a:ext cx="54864" cy="201168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4599432"/>
            <a:ext cx="5559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9F"/>
                </a:solidFill>
              </a:rPr>
              <a:t>Price Differences Exist But Are Small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" y="4937760"/>
            <a:ext cx="55138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44444"/>
                </a:solidFill>
              </a:rPr>
              <a:t>● Churned customers do pay slightly higher prices on average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44444"/>
                </a:solidFill>
              </a:rPr>
              <a:t>● However the difference is NOT large enough to be the primary driver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44444"/>
                </a:solidFill>
              </a:rPr>
              <a:t>● Price sensitivity is a weak contributor, not a dominant signal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5352" y="4526280"/>
            <a:ext cx="5742432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45352" y="4526280"/>
            <a:ext cx="54864" cy="201168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4599432"/>
            <a:ext cx="5559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9F"/>
                </a:solidFill>
              </a:rPr>
              <a:t>Tenure Is a Strong Churn Signal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4937760"/>
            <a:ext cx="551383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444444"/>
                </a:solidFill>
              </a:rPr>
              <a:t>● Customers with &lt; 4 months tenure churn at significantly higher rates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44444"/>
                </a:solidFill>
              </a:rPr>
              <a:t>● 4-month milestone appears to be a loyalty tipping point for PowerCo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444444"/>
                </a:solidFill>
              </a:rPr>
              <a:t>● Multi-product customers (has_gas=1) churn ~2% less — loyalty effect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89F"/>
                </a:solidFill>
              </a:rPr>
              <a:t>Task 4  ·  Transforming raw data into ML-ready predictive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657600" cy="50292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Price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74519"/>
            <a:ext cx="365760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874519"/>
            <a:ext cx="54864" cy="109728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920240"/>
            <a:ext cx="3429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DDDDD"/>
                </a:solidFill>
              </a:rPr>
              <a:t>Dec–Jan off-peak price diff
(colleague's original feature)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63239"/>
            <a:ext cx="365760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063239"/>
            <a:ext cx="54864" cy="109728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3108960"/>
            <a:ext cx="3429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DDDDD"/>
                </a:solidFill>
              </a:rPr>
              <a:t>Mean price diff across periods:
off-peak vs peak vs mid-peak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251960"/>
            <a:ext cx="365760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251960"/>
            <a:ext cx="54864" cy="109728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4297680"/>
            <a:ext cx="3429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DDDDD"/>
                </a:solidFill>
              </a:rPr>
              <a:t>Max monthly price spike
per customer (worst month)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440680"/>
            <a:ext cx="365760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5440680"/>
            <a:ext cx="54864" cy="109728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486400"/>
            <a:ext cx="3429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DDDDD"/>
                </a:solidFill>
              </a:rPr>
              <a:t>14 new price features in total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188720"/>
            <a:ext cx="3657600" cy="50292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Temporal 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874519"/>
            <a:ext cx="365760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1874519"/>
            <a:ext cx="54864" cy="109728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1920240"/>
            <a:ext cx="3429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DDDDD"/>
                </a:solidFill>
              </a:rPr>
              <a:t>Tenure in years
(date_end - date_activ)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063239"/>
            <a:ext cx="365760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3063239"/>
            <a:ext cx="54864" cy="109728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3108960"/>
            <a:ext cx="3429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DDDDD"/>
                </a:solidFill>
              </a:rPr>
              <a:t>months_activ, months_to_end
months_modif_prod, months_renewal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4251960"/>
            <a:ext cx="365760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6240" y="4251960"/>
            <a:ext cx="54864" cy="109728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4297680"/>
            <a:ext cx="3429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DDDDD"/>
                </a:solidFill>
              </a:rPr>
              <a:t>Raw datetime → numeric months
(models can't use dates directly)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5440680"/>
            <a:ext cx="365760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6240" y="5440680"/>
            <a:ext cx="54864" cy="109728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5486400"/>
            <a:ext cx="3429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DDDDD"/>
                </a:solidFill>
              </a:rPr>
              <a:t>Dropped date columns after
conversion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1188720"/>
            <a:ext cx="3657600" cy="50292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 Transformations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1874519"/>
            <a:ext cx="365760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1874519"/>
            <a:ext cx="54864" cy="109728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1920240"/>
            <a:ext cx="3429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DDDDD"/>
                </a:solidFill>
              </a:rPr>
              <a:t>Log10(x+1) on 10 skewed cols
→ near-normal distributions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3063239"/>
            <a:ext cx="365760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3063239"/>
            <a:ext cx="54864" cy="109728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3108960"/>
            <a:ext cx="3429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DDDDD"/>
                </a:solidFill>
              </a:rPr>
              <a:t>has_gas: boolean t/f → 1/0
(gas customers churn 2% less)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4251960"/>
            <a:ext cx="365760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4251960"/>
            <a:ext cx="54864" cy="109728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4297680"/>
            <a:ext cx="3429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DDDDD"/>
                </a:solidFill>
              </a:rPr>
              <a:t>One-hot encode channel_sales
&amp; origin_up (rare cats dropped)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5440680"/>
            <a:ext cx="3657600" cy="10972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38160" y="5440680"/>
            <a:ext cx="54864" cy="109728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20" y="5486400"/>
            <a:ext cx="3429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DDDDD"/>
                </a:solidFill>
              </a:rPr>
              <a:t>Dropped 2 highly correlated
cols (num_years_antig, etc.)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032" y="6400800"/>
            <a:ext cx="11658600" cy="320040"/>
          </a:xfrm>
          <a:prstGeom prst="rect">
            <a:avLst/>
          </a:prstGeom>
          <a:solidFill>
            <a:srgbClr val="00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4190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Framework:  Remove irrelevant cols  →  Expand with new features  →  Combine columns  →  Encode  →  Transform  →  Check correlations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Random Forest — Model Results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560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89F"/>
                </a:solidFill>
              </a:rPr>
              <a:t>Task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14300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143000"/>
            <a:ext cx="64008" cy="256032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9F"/>
                </a:solidFill>
              </a:rPr>
              <a:t>Model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69164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44444"/>
                </a:solidFill>
              </a:rPr>
              <a:t>Algorithm: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69164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Random Forest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029968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44444"/>
                </a:solidFill>
              </a:rPr>
              <a:t>Trees: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029968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1,000 decision trees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368296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44444"/>
                </a:solidFill>
              </a:rPr>
              <a:t>Class Balancing: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368296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class_weight = 'balanced'  ← key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706624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44444"/>
                </a:solidFill>
              </a:rPr>
              <a:t>Validation: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706624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5-Fold Cross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04495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44444"/>
                </a:solidFill>
              </a:rPr>
              <a:t>Train / Test: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044952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75% train  /  25% test  (stratified)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338328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44444"/>
                </a:solidFill>
              </a:rPr>
              <a:t>Features: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38328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All engineered features (no scaling needed)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3840480"/>
            <a:ext cx="5303520" cy="1097280"/>
          </a:xfrm>
          <a:prstGeom prst="rect">
            <a:avLst/>
          </a:prstGeom>
          <a:solidFill>
            <a:srgbClr val="008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9502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Without balancing: recall ≈ 5%  (misses 95% of churners!)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297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With class_weight='balanced': significantly improved recall
and a much more useful model for the business.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1143000"/>
            <a:ext cx="60807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52160" y="1143000"/>
            <a:ext cx="64008" cy="256032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2344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9F"/>
                </a:solidFill>
              </a:rPr>
              <a:t>Performance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6752" y="169164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44444"/>
                </a:solidFill>
              </a:rPr>
              <a:t>Accuracy: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1691640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High  (inflated by imbalance — use with caution)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16752" y="2029968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44444"/>
                </a:solidFill>
              </a:rPr>
              <a:t>Precision: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029968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Proportion of predicted churners that truly churned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16752" y="2368296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44444"/>
                </a:solidFill>
              </a:rPr>
              <a:t>Recall: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368296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Proportion of actual churners we correctly identified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16752" y="2706624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44444"/>
                </a:solidFill>
              </a:rPr>
              <a:t>F1 Score: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2706624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Harmonic mean of precision &amp; recall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16752" y="304495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44444"/>
                </a:solidFill>
              </a:rPr>
              <a:t>ROC-AUC: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044952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Model's ability to rank churners above non-churners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16752" y="338328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44444"/>
                </a:solidFill>
              </a:rPr>
              <a:t>CV AUC: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3383280"/>
            <a:ext cx="4114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5-fold cross-validated AUC score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0" y="3840480"/>
            <a:ext cx="608076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52160" y="3840480"/>
            <a:ext cx="64008" cy="2606040"/>
          </a:xfrm>
          <a:prstGeom prst="rect">
            <a:avLst/>
          </a:prstGeom>
          <a:solidFill>
            <a:srgbClr val="008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53328" y="39319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C7A"/>
                </a:solidFill>
              </a:rPr>
              <a:t>Top Churn Drivers (Feature Importance)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16752" y="44074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C7A"/>
                </a:solidFill>
              </a:rPr>
              <a:t>1st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37960" y="4443984"/>
            <a:ext cx="3909059" cy="201168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440740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Net margin on electricity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16752" y="47457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C7A"/>
                </a:solidFill>
              </a:rPr>
              <a:t>2nd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37960" y="4782312"/>
            <a:ext cx="3291840" cy="201168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474573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12-month electricity consumption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16752" y="508406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C7A"/>
                </a:solidFill>
              </a:rPr>
              <a:t>3rd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37960" y="5120640"/>
            <a:ext cx="2674620" cy="201168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508406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Margin on power subscription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16752" y="54223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C7A"/>
                </a:solidFill>
              </a:rPr>
              <a:t>4th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7960" y="5458968"/>
            <a:ext cx="2263140" cy="201168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542239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Months active (tenure proxy)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16752" y="5760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C7A"/>
                </a:solidFill>
              </a:rPr>
              <a:t>5th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37960" y="5797296"/>
            <a:ext cx="1851660" cy="201168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0" y="576072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Months to contract end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16752" y="6099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C7A"/>
                </a:solidFill>
              </a:rPr>
              <a:t>6th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37960" y="6135624"/>
            <a:ext cx="1234439" cy="2011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0" y="609904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Price diff features (off-peak/peak)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Executive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938528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B89F"/>
                </a:solidFill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74320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</a:rPr>
              <a:t>PowerCo SME Division
Churn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309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</a:rPr>
              <a:t>BCG X  ·  Forage Simulation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7616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274320"/>
            <a:ext cx="71780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274320"/>
            <a:ext cx="64008" cy="146304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92040" y="548640"/>
            <a:ext cx="502920" cy="50292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5669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365760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F"/>
                </a:solidFill>
              </a:rPr>
              <a:t>Churn is high in the SME division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749808"/>
            <a:ext cx="6217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Nearly 10% churn rate across ~15,000 customers — a significant revenue risk for PowerCo.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874519"/>
            <a:ext cx="71780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1874519"/>
            <a:ext cx="64008" cy="146304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92040" y="2148839"/>
            <a:ext cx="502920" cy="50292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216712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1965960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F"/>
                </a:solidFill>
              </a:rPr>
              <a:t>Factors influencing churn can be measured &amp; predicted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2350008"/>
            <a:ext cx="6217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A Random Forest model was trained to predict churn probability per customer, enabling proactive retention targeting.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3474720"/>
            <a:ext cx="71780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0" y="3474720"/>
            <a:ext cx="64008" cy="146304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92040" y="3749039"/>
            <a:ext cx="502920" cy="50292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37673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$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566160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F"/>
                </a:solidFill>
              </a:rPr>
              <a:t>Price sensitivity is NOT the primary driver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3950208"/>
            <a:ext cx="6217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Net &amp; gross margin on electricity and 12-month consumption are the largest drivers of churn — not price.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5074920"/>
            <a:ext cx="71780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880" y="5074920"/>
            <a:ext cx="64008" cy="146304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92040" y="5349240"/>
            <a:ext cx="502920" cy="50292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53675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5166359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9F"/>
                </a:solidFill>
              </a:rPr>
              <a:t>Discounts may not be the best retention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5550408"/>
            <a:ext cx="6217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Since customers are not overly price-sensitive, targeted outreach and service improvements are likely to be more effective.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89F"/>
                </a:solidFill>
              </a:rPr>
              <a:t>What PowerCo should do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188720"/>
            <a:ext cx="3749039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188720"/>
            <a:ext cx="3749039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2529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🎯  Target High-Risk Customers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828800"/>
            <a:ext cx="64008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Use churn probability scores to rank customers by 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2880360"/>
            <a:ext cx="64008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98648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Prioritise high-margin, short-tenure customers for outreach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" y="3931920"/>
            <a:ext cx="64008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950208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Flag customers with declining 12-month consumption early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" y="4983479"/>
            <a:ext cx="64008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001768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Assign dedicated account managers to top 500 at-risk accounts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33672" y="1188720"/>
            <a:ext cx="3749039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3672" y="1188720"/>
            <a:ext cx="3749039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22529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 Improve Retention Strategy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2" y="1828800"/>
            <a:ext cx="64008" cy="8229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847088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Move away from blanket price discounts — they are not the key lever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2880360"/>
            <a:ext cx="64008" cy="8229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2898648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Invest in contract flexibility and personalised service packages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2" y="3931920"/>
            <a:ext cx="64008" cy="8229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950208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Conduct customer satisfaction surveys for 'MISSING' channel segment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0832" y="4983479"/>
            <a:ext cx="64008" cy="8229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5001768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Incentivise multi-product adoption (gas + electricity bundles)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11311" y="1188720"/>
            <a:ext cx="3749039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11311" y="1188720"/>
            <a:ext cx="3749039" cy="50292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39" y="122529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🔬  Improve the Model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48471" y="1828800"/>
            <a:ext cx="64008" cy="82296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19" y="1847088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Try XGBoost / LightGBM for potential performance gains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48471" y="2880360"/>
            <a:ext cx="64008" cy="82296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19" y="2898648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Apply SMOTE oversampling as alternative to class weighting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48471" y="3931920"/>
            <a:ext cx="64008" cy="82296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19" y="3950208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Add SHAP values for customer-level explainability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48471" y="4983479"/>
            <a:ext cx="64008" cy="822960"/>
          </a:xfrm>
          <a:prstGeom prst="rect">
            <a:avLst/>
          </a:prstGeom>
          <a:solidFill>
            <a:srgbClr val="00B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19" y="5001768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444"/>
                </a:solidFill>
              </a:rPr>
              <a:t>Build a Streamlit dashboard for real-time churn scoring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6492240"/>
            <a:ext cx="11658600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1052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VERDICT: Churn at PowerCo is driven by margin &amp; consumption — not price.  Retention strategy should focus on relationship and service, not discounts.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